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5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75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E6A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9100" y="312346"/>
            <a:ext cx="1206436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9995" y="4444415"/>
            <a:ext cx="7887334" cy="4548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50" b="0" i="0">
                <a:solidFill>
                  <a:srgbClr val="F1F0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3516" y="280879"/>
            <a:ext cx="10447655" cy="3586479"/>
          </a:xfrm>
          <a:prstGeom prst="rect">
            <a:avLst/>
          </a:prstGeom>
        </p:spPr>
        <p:txBody>
          <a:bodyPr vert="horz" wrap="square" lIns="0" tIns="582295" rIns="0" bIns="0" rtlCol="0">
            <a:spAutoFit/>
          </a:bodyPr>
          <a:lstStyle/>
          <a:p>
            <a:pPr marL="1971675" marR="5080" indent="-1959610">
              <a:lnSpc>
                <a:spcPct val="72400"/>
              </a:lnSpc>
              <a:spcBef>
                <a:spcPts val="4585"/>
              </a:spcBef>
              <a:tabLst>
                <a:tab pos="6944359" algn="l"/>
              </a:tabLst>
            </a:pPr>
            <a:r>
              <a:rPr sz="13550" spc="-10" dirty="0"/>
              <a:t>INTERNSHIP </a:t>
            </a:r>
            <a:r>
              <a:rPr sz="13550" spc="-20" dirty="0"/>
              <a:t>TASK</a:t>
            </a:r>
            <a:r>
              <a:rPr sz="13550" dirty="0"/>
              <a:t>	</a:t>
            </a:r>
            <a:r>
              <a:rPr sz="13550" spc="-60" dirty="0"/>
              <a:t>-</a:t>
            </a:r>
            <a:r>
              <a:rPr sz="13550" spc="-50" dirty="0"/>
              <a:t>1</a:t>
            </a:r>
            <a:endParaRPr sz="135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2577465" marR="109855" indent="-953135">
              <a:lnSpc>
                <a:spcPct val="72400"/>
              </a:lnSpc>
              <a:spcBef>
                <a:spcPts val="2335"/>
              </a:spcBef>
              <a:tabLst>
                <a:tab pos="4244340" algn="l"/>
              </a:tabLst>
            </a:pPr>
            <a:r>
              <a:rPr spc="-20" dirty="0"/>
              <a:t>PUSH</a:t>
            </a:r>
            <a:r>
              <a:rPr dirty="0"/>
              <a:t>	</a:t>
            </a:r>
            <a:r>
              <a:rPr spc="-10" dirty="0"/>
              <a:t>BUTTON COUNTER</a:t>
            </a:r>
          </a:p>
          <a:p>
            <a:pPr>
              <a:lnSpc>
                <a:spcPct val="100000"/>
              </a:lnSpc>
              <a:spcBef>
                <a:spcPts val="2155"/>
              </a:spcBef>
            </a:pPr>
            <a:endParaRPr spc="-10" dirty="0"/>
          </a:p>
          <a:p>
            <a:pPr marL="12700" marR="5080" indent="906144">
              <a:lnSpc>
                <a:spcPct val="72400"/>
              </a:lnSpc>
              <a:spcBef>
                <a:spcPts val="5"/>
              </a:spcBef>
              <a:tabLst>
                <a:tab pos="2442210" algn="l"/>
                <a:tab pos="3537585" algn="l"/>
                <a:tab pos="3729354" algn="l"/>
                <a:tab pos="4014470" algn="l"/>
              </a:tabLst>
            </a:pPr>
            <a:r>
              <a:rPr spc="-10" dirty="0">
                <a:solidFill>
                  <a:srgbClr val="FFFFFF"/>
                </a:solidFill>
              </a:rPr>
              <a:t>KEVIN</a:t>
            </a:r>
            <a:r>
              <a:rPr dirty="0">
                <a:solidFill>
                  <a:srgbClr val="FFFFFF"/>
                </a:solidFill>
              </a:rPr>
              <a:t>		</a:t>
            </a:r>
            <a:r>
              <a:rPr spc="-10" dirty="0">
                <a:solidFill>
                  <a:srgbClr val="FFFFFF"/>
                </a:solidFill>
              </a:rPr>
              <a:t>VICTOR Intern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spc="-25" dirty="0">
                <a:solidFill>
                  <a:srgbClr val="FFFFFF"/>
                </a:solidFill>
              </a:rPr>
              <a:t>ID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spc="-50" dirty="0">
                <a:solidFill>
                  <a:srgbClr val="FFFFFF"/>
                </a:solidFill>
              </a:rPr>
              <a:t>: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spc="-10" dirty="0">
                <a:solidFill>
                  <a:srgbClr val="FFFFFF"/>
                </a:solidFill>
              </a:rPr>
              <a:t>CTIS8913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5" y="802170"/>
            <a:ext cx="7598552" cy="94848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7452" y="1349578"/>
            <a:ext cx="6839584" cy="218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23510" algn="l"/>
              </a:tabLst>
            </a:pPr>
            <a:r>
              <a:rPr sz="14200" spc="-20" dirty="0"/>
              <a:t>TASK</a:t>
            </a:r>
            <a:r>
              <a:rPr sz="14200" dirty="0"/>
              <a:t>	</a:t>
            </a:r>
            <a:r>
              <a:rPr sz="14200" spc="-25" dirty="0"/>
              <a:t>`1</a:t>
            </a:r>
            <a:endParaRPr sz="14200"/>
          </a:p>
        </p:txBody>
      </p:sp>
      <p:sp>
        <p:nvSpPr>
          <p:cNvPr id="4" name="object 4"/>
          <p:cNvSpPr txBox="1"/>
          <p:nvPr/>
        </p:nvSpPr>
        <p:spPr>
          <a:xfrm>
            <a:off x="1357452" y="5416651"/>
            <a:ext cx="8488045" cy="201231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779"/>
              </a:lnSpc>
              <a:spcBef>
                <a:spcPts val="675"/>
              </a:spcBef>
              <a:tabLst>
                <a:tab pos="1770380" algn="l"/>
                <a:tab pos="2995295" algn="l"/>
                <a:tab pos="4170045" algn="l"/>
                <a:tab pos="5623560" algn="l"/>
                <a:tab pos="6848475" algn="l"/>
              </a:tabLst>
            </a:pP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USE</a:t>
            </a:r>
            <a:r>
              <a:rPr sz="3600" spc="-40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A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TEMPERATURE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SENSOR</a:t>
            </a:r>
            <a:r>
              <a:rPr sz="3600" spc="-30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TO 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READ</a:t>
            </a:r>
            <a:r>
              <a:rPr sz="3600" spc="-55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AND</a:t>
            </a:r>
            <a:r>
              <a:rPr sz="3600" spc="-55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DISPLAY</a:t>
            </a:r>
            <a:r>
              <a:rPr sz="3600" spc="-45" dirty="0">
                <a:solidFill>
                  <a:srgbClr val="F1F0EB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1F0EB"/>
                </a:solidFill>
                <a:latin typeface="Arial"/>
                <a:cs typeface="Arial"/>
              </a:rPr>
              <a:t>TEMPERATURE </a:t>
            </a:r>
            <a:r>
              <a:rPr sz="3600" spc="-20" dirty="0">
                <a:solidFill>
                  <a:srgbClr val="F1F0EB"/>
                </a:solidFill>
                <a:latin typeface="Arial"/>
                <a:cs typeface="Arial"/>
              </a:rPr>
              <a:t>DATA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ON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AN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LCD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3600" spc="-25" dirty="0">
                <a:solidFill>
                  <a:srgbClr val="F1F0EB"/>
                </a:solidFill>
                <a:latin typeface="Arial"/>
                <a:cs typeface="Arial"/>
              </a:rPr>
              <a:t>OR</a:t>
            </a:r>
            <a:r>
              <a:rPr sz="36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3600" spc="-10" dirty="0">
                <a:solidFill>
                  <a:srgbClr val="F1F0EB"/>
                </a:solidFill>
                <a:latin typeface="Arial"/>
                <a:cs typeface="Arial"/>
              </a:rPr>
              <a:t>SERIAL MONITOR.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E6A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6608" y="28953"/>
            <a:ext cx="14235430" cy="211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1420" algn="l"/>
              </a:tabLst>
            </a:pPr>
            <a:r>
              <a:rPr sz="13700" spc="-10" dirty="0"/>
              <a:t>CIRCUIT</a:t>
            </a:r>
            <a:r>
              <a:rPr sz="13700" dirty="0"/>
              <a:t>	</a:t>
            </a:r>
            <a:r>
              <a:rPr sz="13700" spc="-10" dirty="0"/>
              <a:t>DESIGN</a:t>
            </a:r>
            <a:endParaRPr sz="13700"/>
          </a:p>
        </p:txBody>
      </p:sp>
      <p:sp>
        <p:nvSpPr>
          <p:cNvPr id="4" name="object 4"/>
          <p:cNvSpPr txBox="1"/>
          <p:nvPr/>
        </p:nvSpPr>
        <p:spPr>
          <a:xfrm>
            <a:off x="11925920" y="2105647"/>
            <a:ext cx="5904865" cy="7840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3380" algn="ctr">
              <a:lnSpc>
                <a:spcPct val="100000"/>
              </a:lnSpc>
              <a:spcBef>
                <a:spcPts val="100"/>
              </a:spcBef>
            </a:pPr>
            <a:r>
              <a:rPr sz="5600" spc="-10" dirty="0">
                <a:solidFill>
                  <a:srgbClr val="F1F0EB"/>
                </a:solidFill>
                <a:latin typeface="Arial"/>
                <a:cs typeface="Arial"/>
              </a:rPr>
              <a:t>Components</a:t>
            </a:r>
            <a:endParaRPr sz="5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5600">
              <a:latin typeface="Arial"/>
              <a:cs typeface="Arial"/>
            </a:endParaRPr>
          </a:p>
          <a:p>
            <a:pPr marL="12700">
              <a:lnSpc>
                <a:spcPts val="4870"/>
              </a:lnSpc>
              <a:tabLst>
                <a:tab pos="4100195" algn="l"/>
              </a:tabLst>
            </a:pP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1.Temperature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sensor</a:t>
            </a:r>
            <a:endParaRPr sz="4700">
              <a:latin typeface="Arial"/>
              <a:cs typeface="Arial"/>
            </a:endParaRPr>
          </a:p>
          <a:p>
            <a:pPr marL="520700">
              <a:lnSpc>
                <a:spcPts val="4870"/>
              </a:lnSpc>
              <a:tabLst>
                <a:tab pos="885825" algn="l"/>
              </a:tabLst>
            </a:pPr>
            <a:r>
              <a:rPr sz="4700" spc="-50" dirty="0">
                <a:solidFill>
                  <a:srgbClr val="F1F0EB"/>
                </a:solidFill>
                <a:latin typeface="Arial"/>
                <a:cs typeface="Arial"/>
              </a:rPr>
              <a:t>-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TMP36</a:t>
            </a:r>
            <a:endParaRPr sz="4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  <a:tabLst>
                <a:tab pos="2743200" algn="l"/>
                <a:tab pos="4003675" algn="l"/>
              </a:tabLst>
            </a:pP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1.Arduino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25" dirty="0">
                <a:solidFill>
                  <a:srgbClr val="F1F0EB"/>
                </a:solidFill>
                <a:latin typeface="Arial"/>
                <a:cs typeface="Arial"/>
              </a:rPr>
              <a:t>Uno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25" dirty="0">
                <a:solidFill>
                  <a:srgbClr val="F1F0EB"/>
                </a:solidFill>
                <a:latin typeface="Arial"/>
                <a:cs typeface="Arial"/>
              </a:rPr>
              <a:t>R3</a:t>
            </a:r>
            <a:endParaRPr sz="4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  <a:tabLst>
                <a:tab pos="1449070" algn="l"/>
                <a:tab pos="1813560" algn="l"/>
                <a:tab pos="2643505" algn="l"/>
                <a:tab pos="3207385" algn="l"/>
                <a:tab pos="3705225" algn="l"/>
              </a:tabLst>
            </a:pP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1.lcd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50" dirty="0">
                <a:solidFill>
                  <a:srgbClr val="F1F0EB"/>
                </a:solidFill>
                <a:latin typeface="Arial"/>
                <a:cs typeface="Arial"/>
              </a:rPr>
              <a:t>(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25" dirty="0">
                <a:solidFill>
                  <a:srgbClr val="F1F0EB"/>
                </a:solidFill>
                <a:latin typeface="Arial"/>
                <a:cs typeface="Arial"/>
              </a:rPr>
              <a:t>16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50" dirty="0">
                <a:solidFill>
                  <a:srgbClr val="F1F0EB"/>
                </a:solidFill>
                <a:latin typeface="Arial"/>
                <a:cs typeface="Arial"/>
              </a:rPr>
              <a:t>X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60" dirty="0">
                <a:solidFill>
                  <a:srgbClr val="F1F0EB"/>
                </a:solidFill>
                <a:latin typeface="Arial"/>
                <a:cs typeface="Arial"/>
              </a:rPr>
              <a:t>2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50" dirty="0">
                <a:solidFill>
                  <a:srgbClr val="F1F0EB"/>
                </a:solidFill>
                <a:latin typeface="Arial"/>
                <a:cs typeface="Arial"/>
              </a:rPr>
              <a:t>)</a:t>
            </a:r>
            <a:endParaRPr sz="4700">
              <a:latin typeface="Arial"/>
              <a:cs typeface="Arial"/>
            </a:endParaRPr>
          </a:p>
          <a:p>
            <a:pPr marL="12700" marR="1376045">
              <a:lnSpc>
                <a:spcPct val="72700"/>
              </a:lnSpc>
              <a:spcBef>
                <a:spcPts val="4100"/>
              </a:spcBef>
              <a:tabLst>
                <a:tab pos="675640" algn="l"/>
                <a:tab pos="3027680" algn="l"/>
                <a:tab pos="3392804" algn="l"/>
                <a:tab pos="4222115" algn="l"/>
              </a:tabLst>
            </a:pPr>
            <a:r>
              <a:rPr sz="4700" spc="-25" dirty="0">
                <a:solidFill>
                  <a:srgbClr val="F1F0EB"/>
                </a:solidFill>
                <a:latin typeface="Arial"/>
                <a:cs typeface="Arial"/>
              </a:rPr>
              <a:t>1.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Resistor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50" dirty="0">
                <a:solidFill>
                  <a:srgbClr val="F1F0EB"/>
                </a:solidFill>
                <a:latin typeface="Arial"/>
                <a:cs typeface="Arial"/>
              </a:rPr>
              <a:t>(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25" dirty="0">
                <a:solidFill>
                  <a:srgbClr val="F1F0EB"/>
                </a:solidFill>
                <a:latin typeface="Arial"/>
                <a:cs typeface="Arial"/>
              </a:rPr>
              <a:t>10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50" dirty="0">
                <a:solidFill>
                  <a:srgbClr val="F1F0EB"/>
                </a:solidFill>
                <a:latin typeface="Arial"/>
                <a:cs typeface="Arial"/>
              </a:rPr>
              <a:t>k </a:t>
            </a:r>
            <a:r>
              <a:rPr sz="4700" spc="-20" dirty="0">
                <a:solidFill>
                  <a:srgbClr val="F1F0EB"/>
                </a:solidFill>
                <a:latin typeface="Arial"/>
                <a:cs typeface="Arial"/>
              </a:rPr>
              <a:t>ohm)</a:t>
            </a:r>
            <a:endParaRPr sz="4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60"/>
              </a:spcBef>
              <a:tabLst>
                <a:tab pos="675640" algn="l"/>
                <a:tab pos="2201545" algn="l"/>
              </a:tabLst>
            </a:pPr>
            <a:r>
              <a:rPr sz="4700" spc="-25" dirty="0">
                <a:solidFill>
                  <a:srgbClr val="F1F0EB"/>
                </a:solidFill>
                <a:latin typeface="Arial"/>
                <a:cs typeface="Arial"/>
              </a:rPr>
              <a:t>1.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20" dirty="0">
                <a:solidFill>
                  <a:srgbClr val="F1F0EB"/>
                </a:solidFill>
                <a:latin typeface="Arial"/>
                <a:cs typeface="Arial"/>
              </a:rPr>
              <a:t>Push</a:t>
            </a:r>
            <a:r>
              <a:rPr sz="4700" dirty="0">
                <a:solidFill>
                  <a:srgbClr val="F1F0EB"/>
                </a:solidFill>
                <a:latin typeface="Arial"/>
                <a:cs typeface="Arial"/>
              </a:rPr>
              <a:t>	</a:t>
            </a:r>
            <a:r>
              <a:rPr sz="4700" spc="-10" dirty="0">
                <a:solidFill>
                  <a:srgbClr val="F1F0EB"/>
                </a:solidFill>
                <a:latin typeface="Arial"/>
                <a:cs typeface="Arial"/>
              </a:rPr>
              <a:t>Button</a:t>
            </a:r>
            <a:endParaRPr sz="47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628900"/>
            <a:ext cx="11582400" cy="5334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0079" y="300404"/>
            <a:ext cx="8001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0230" algn="l"/>
              </a:tabLst>
            </a:pPr>
            <a:r>
              <a:rPr spc="-10" dirty="0"/>
              <a:t>SCHEMATIC</a:t>
            </a:r>
            <a:r>
              <a:rPr dirty="0"/>
              <a:t>	</a:t>
            </a:r>
            <a:r>
              <a:rPr spc="-20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11" y="2056968"/>
            <a:ext cx="17075531" cy="764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5265" algn="l"/>
              </a:tabLst>
            </a:pPr>
            <a:r>
              <a:rPr spc="-10" dirty="0"/>
              <a:t>OUTPUT</a:t>
            </a:r>
            <a:r>
              <a:rPr dirty="0"/>
              <a:t>	</a:t>
            </a:r>
            <a:r>
              <a:rPr spc="-10" dirty="0"/>
              <a:t>DEMONSTRATION</a:t>
            </a:r>
          </a:p>
        </p:txBody>
      </p:sp>
      <p:pic>
        <p:nvPicPr>
          <p:cNvPr id="4" name="Picture 2">
            <a:hlinkClick r:id="" action="ppaction://media"/>
            <a:extLst>
              <a:ext uri="{FF2B5EF4-FFF2-40B4-BE49-F238E27FC236}">
                <a16:creationId xmlns:a16="http://schemas.microsoft.com/office/drawing/2014/main" id="{C2842B23-E083-AC95-CA09-64355988FE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828800" y="1575106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102</Words>
  <Application>Microsoft Office PowerPoint</Application>
  <PresentationFormat>Custom</PresentationFormat>
  <Paragraphs>17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INTERNSHIP TASK -1</vt:lpstr>
      <vt:lpstr>TASK `1</vt:lpstr>
      <vt:lpstr>CIRCUIT DESIGN</vt:lpstr>
      <vt:lpstr>SCHEMATIC VIEW</vt:lpstr>
      <vt:lpstr>OUTPUT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VICTOR</cp:lastModifiedBy>
  <cp:revision>1</cp:revision>
  <dcterms:created xsi:type="dcterms:W3CDTF">2026-04-25T17:40:41Z</dcterms:created>
  <dcterms:modified xsi:type="dcterms:W3CDTF">2026-04-25T17:41:20Z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2026-04-25T00:00:00Z</vt:filetime>
  </property>
  <property fmtid="{D5CDD505-2E9C-101B-9397-08002B2CF9AE}" pid="3" name="LastSaved">
    <vt:filetime>2026-04-25T00:00:00Z</vt:filetime>
  </property>
  <property fmtid="{D5CDD505-2E9C-101B-9397-08002B2CF9AE}" pid="4" name="Producer">
    <vt:lpwstr>3-Heights(TM) PDF Security Shell 4.8.25.2 (http://www.pdf-tools.com)</vt:lpwstr>
  </property>
</Properties>
</file>